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ibre Baskerville"/>
      <p:regular r:id="rId14"/>
    </p:embeddedFon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67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Deepfake Detection using XceptionNet on DFDC Dataset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8959"/>
            <a:ext cx="9017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Technical Deep Dive into Robust Real-Time Video Forensics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33951" y="3098602"/>
            <a:ext cx="1270265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Objective: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 a robust deepfake-detection system leveraging XceptionNet fine-tuning, automated face preprocessing, and real-time inference capabilities.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2843451"/>
            <a:ext cx="30480" cy="1417320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4515922"/>
            <a:ext cx="4196358" cy="2527578"/>
          </a:xfrm>
          <a:prstGeom prst="roundRect">
            <a:avLst>
              <a:gd name="adj" fmla="val 5788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4515922"/>
            <a:ext cx="121920" cy="25275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2524" y="4773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Technology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142524" y="533459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Fine-tuning the advanced XceptionNet architecture for superior feature extraction from manipulated video frames.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4515922"/>
            <a:ext cx="4196358" cy="2527578"/>
          </a:xfrm>
          <a:prstGeom prst="roundRect">
            <a:avLst>
              <a:gd name="adj" fmla="val 5788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4515922"/>
            <a:ext cx="121920" cy="2527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5696" y="4773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Innovation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5565696" y="533459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of automated face preprocessing to standardize inputs and improve model consistency and performance.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4515922"/>
            <a:ext cx="4196358" cy="2527578"/>
          </a:xfrm>
          <a:prstGeom prst="roundRect">
            <a:avLst>
              <a:gd name="adj" fmla="val 5788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4515922"/>
            <a:ext cx="121920" cy="25275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88868" y="4773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Deliverable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9988868" y="533459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functional detection system ready for potential deployment, including a user-friendly evaluation interface.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729865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Authors: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John Ademola, Jyotsana, Khushi Patel, Vipul Bodhani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9013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📦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Data Preparation &amp; High-Efficiency Preprocessing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utilized a subset of the industry-standard Deepfake Detection Challenge (DFDC) dataset for training, focusing on efficient frame extraction and standardized input formatting for XceptionNet.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890713"/>
            <a:ext cx="13836729" cy="1524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5" name="Shape 3"/>
          <p:cNvSpPr/>
          <p:nvPr/>
        </p:nvSpPr>
        <p:spPr>
          <a:xfrm>
            <a:off x="396835" y="1201936"/>
            <a:ext cx="6847523" cy="688777"/>
          </a:xfrm>
          <a:prstGeom prst="roundRect">
            <a:avLst>
              <a:gd name="adj" fmla="val 2470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2970014" y="1315283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0183" y="1595914"/>
            <a:ext cx="662082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DFDC Chunk 00: Approximately 1,400 videos, translating to around 42,000 processed frames after filtering and extraction.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86042" y="1905952"/>
            <a:ext cx="6847523" cy="870228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9959221" y="2019300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Splits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9390" y="2299930"/>
            <a:ext cx="662082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 was stratified into: 80% Train, 10% Validation, and 10% Test to ensure rigorous performance metrics across unseen data.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2888456"/>
            <a:ext cx="13836729" cy="62559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73885" y="7794556"/>
            <a:ext cx="3751403" cy="38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Output Standardization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573885" y="8290114"/>
            <a:ext cx="4705223" cy="308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 to 299x299 JPEG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44" y="7794556"/>
            <a:ext cx="251423" cy="2514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73885" y="6299310"/>
            <a:ext cx="3086516" cy="38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Face Detection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573885" y="6794868"/>
            <a:ext cx="4705223" cy="308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 rate ~90%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544" y="6299310"/>
            <a:ext cx="251423" cy="2514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3885" y="4804065"/>
            <a:ext cx="3086516" cy="38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73885" y="5299623"/>
            <a:ext cx="4705223" cy="30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extraction &amp; crop — 16 hours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544" y="4804065"/>
            <a:ext cx="251423" cy="2514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3885" y="3308819"/>
            <a:ext cx="3086516" cy="38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Splitting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573885" y="3804377"/>
            <a:ext cx="4705223" cy="30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Train/val/test split — 1.5 hours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544" y="3308819"/>
            <a:ext cx="251423" cy="25142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6835" y="9314378"/>
            <a:ext cx="2696766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Standardized Output Structure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96835" y="9697045"/>
            <a:ext cx="13836729" cy="1621631"/>
          </a:xfrm>
          <a:prstGeom prst="roundRect">
            <a:avLst>
              <a:gd name="adj" fmla="val 1049"/>
            </a:avLst>
          </a:prstGeom>
          <a:solidFill>
            <a:srgbClr val="EEEDF2"/>
          </a:solidFill>
          <a:ln/>
        </p:spPr>
      </p:sp>
      <p:sp>
        <p:nvSpPr>
          <p:cNvPr id="26" name="Shape 19"/>
          <p:cNvSpPr/>
          <p:nvPr/>
        </p:nvSpPr>
        <p:spPr>
          <a:xfrm>
            <a:off x="391239" y="9697045"/>
            <a:ext cx="13847921" cy="1621631"/>
          </a:xfrm>
          <a:prstGeom prst="roundRect">
            <a:avLst>
              <a:gd name="adj" fmla="val 1049"/>
            </a:avLst>
          </a:prstGeom>
          <a:solidFill>
            <a:srgbClr val="EEEDF2"/>
          </a:solidFill>
          <a:ln/>
        </p:spPr>
      </p:sp>
      <p:sp>
        <p:nvSpPr>
          <p:cNvPr id="27" name="Text 20"/>
          <p:cNvSpPr/>
          <p:nvPr/>
        </p:nvSpPr>
        <p:spPr>
          <a:xfrm>
            <a:off x="504587" y="9782056"/>
            <a:ext cx="136212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crops/┣ train/real┣ val/real┣ test/real┣ train/fake┣ val/fake┗ test/fake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396835" y="1144619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extracted and cropped frames are resized to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299×299 JPEGs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consistent, optimized input, matching the XceptionNet input requirements.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019" y="539353"/>
            <a:ext cx="1187791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⚙️</a:t>
            </a:r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Optimized Model Architecture &amp; Two-Phase Fine-Tuning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6019" y="1324213"/>
            <a:ext cx="13558361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detection model is built upon XceptionNet, leveraging its depthwise separable convolutions for efficient and effective feature learning, fine-tuned specifically for deepfake artifacts.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6019" y="1894523"/>
            <a:ext cx="419802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Hyperparameters &amp; Augmentations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6019" y="2353985"/>
            <a:ext cx="7985522" cy="2677716"/>
          </a:xfrm>
          <a:prstGeom prst="roundRect">
            <a:avLst>
              <a:gd name="adj" fmla="val 8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639" y="2361605"/>
            <a:ext cx="7970282" cy="4437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6873" y="2461022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Backbone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8700" y="2461022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XceptionNet (ImageNet Pretrained)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3639" y="2805351"/>
            <a:ext cx="7970282" cy="4437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6873" y="2904768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8700" y="2904768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3639" y="3249097"/>
            <a:ext cx="7970282" cy="4437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6873" y="3348514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8700" y="3348514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3e-4 (Head) / 1e-4 (Full)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639" y="3692843"/>
            <a:ext cx="7970282" cy="4437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6873" y="3792260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8700" y="3792260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3639" y="4136588"/>
            <a:ext cx="7970282" cy="4437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6873" y="4236006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Planned Loss Function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8700" y="4236006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Cross-Entropy (Initial) → Focal Loss (Next Phase)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3639" y="4580334"/>
            <a:ext cx="7970282" cy="4437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6873" y="4679752"/>
            <a:ext cx="2877979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8700" y="4679752"/>
            <a:ext cx="44721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NVIDIA GPU (24 GB VRAM)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02779" y="1894523"/>
            <a:ext cx="272903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Augmentation Strategy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902779" y="2353985"/>
            <a:ext cx="344567" cy="3445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6" name="Text 24"/>
          <p:cNvSpPr/>
          <p:nvPr/>
        </p:nvSpPr>
        <p:spPr>
          <a:xfrm>
            <a:off x="9400461" y="2406610"/>
            <a:ext cx="191452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Blur &amp; Color Jitter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0461" y="2799040"/>
            <a:ext cx="4701421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Simulating low-quality video conditions.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02779" y="3350181"/>
            <a:ext cx="344567" cy="3445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9" name="Text 27"/>
          <p:cNvSpPr/>
          <p:nvPr/>
        </p:nvSpPr>
        <p:spPr>
          <a:xfrm>
            <a:off x="9400461" y="3402806"/>
            <a:ext cx="191452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JPEG Compression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00461" y="3795236"/>
            <a:ext cx="4701421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Mimicking artifacts common in video sharing and streaming platforms.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6019" y="5433655"/>
            <a:ext cx="381047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Sequential Fine-Tuning Strategy</a:t>
            </a:r>
            <a:endParaRPr lang="en-US" sz="1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19" y="5950506"/>
            <a:ext cx="6779181" cy="61257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9134" y="6716197"/>
            <a:ext cx="245864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1: Feature Freezing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89134" y="7047309"/>
            <a:ext cx="6472952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the newly added classification head while keeping the XceptionNet backbone weights frozen for 3 epochs. This stabilizes initial convergence.</a:t>
            </a:r>
            <a:endParaRPr lang="en-US" sz="12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950506"/>
            <a:ext cx="6779181" cy="61257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468314" y="6716197"/>
            <a:ext cx="217741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2: Full Unfreeze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468314" y="7047309"/>
            <a:ext cx="6472952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Unfreeze all layers and continue training for 15 additional epochs. This allows the model to deeply adapt the ImageNet features to the deepfake domain.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287" y="850940"/>
            <a:ext cx="12275225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📊</a:t>
            </a:r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Evaluation Results: Frame-Level Performance Analysis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287" y="1705094"/>
            <a:ext cx="134638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demonstrated exceptional performance on the validation and test sets at the individual frame level, confirming the efficacy of the XceptionNet fine-tuning approach.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3287" y="2509123"/>
            <a:ext cx="3209687" cy="54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97.95%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1146334" y="3267194"/>
            <a:ext cx="2083475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3287" y="3627477"/>
            <a:ext cx="32096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frame classification accuracy achieved on the test set.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01214" y="2509123"/>
            <a:ext cx="3209806" cy="54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0.9492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4564380" y="3267194"/>
            <a:ext cx="2083475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01214" y="3627477"/>
            <a:ext cx="3209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 Under the ROC Curve, indicating strong separability.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19261" y="2509123"/>
            <a:ext cx="3209806" cy="54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0.8786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7982426" y="3267194"/>
            <a:ext cx="2083475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 (Fake)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19261" y="3627477"/>
            <a:ext cx="3209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 of all frames predicted as FAKE, this percentage were correctly classified.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37307" y="2509123"/>
            <a:ext cx="3209806" cy="54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0.842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11400473" y="3267194"/>
            <a:ext cx="2083475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F1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37307" y="3627477"/>
            <a:ext cx="3209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harmonic mean of precision and recall for balanced performance.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3287" y="4410789"/>
            <a:ext cx="457795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Confusion Matrix Insights (Test Set)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83287" y="5139809"/>
            <a:ext cx="270545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 Frame Classification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3287" y="5566767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True Positives (TP):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3,703 frames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3287" y="5891689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Positives (FP): 31 frames (Real misclassified as Fake)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26060" y="5139809"/>
            <a:ext cx="272784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Fake Frame Classification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26060" y="5566767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True Positives (TP):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219 frames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26060" y="5891689"/>
            <a:ext cx="65286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Negatives (FN): 51 frames (Fake misclassified as Real)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3287" y="6404015"/>
            <a:ext cx="13463826" cy="974646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56" y="6664404"/>
            <a:ext cx="208240" cy="1665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24664" y="6612136"/>
            <a:ext cx="127558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frame-level recall is strong (0.84), the critical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video-level recall is lower (0.062)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 next phase will address this gap using temporal aggregation methods like Top-K frame voting and weighted loss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071" y="572810"/>
            <a:ext cx="10140672" cy="50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📈</a:t>
            </a:r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Performance Benchmarking Against Baselines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5071" y="1400175"/>
            <a:ext cx="13500259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Comparative analysis shows our fine-tuned XceptionNet model significantly outperforms established baselines, particularly in achieving high overall accuracy on the challenging DFDC dataset.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5071" y="2098238"/>
            <a:ext cx="13500259" cy="2817733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2691" y="2105858"/>
            <a:ext cx="13485019" cy="4670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4139" y="2210276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34953" y="2210276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FaceForensics++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31957" y="2210276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DFDC subset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77462" y="2210276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DFDC Chunk 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2691" y="2572941"/>
            <a:ext cx="13485019" cy="4670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4139" y="2677358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34953" y="2677358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91 %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31957" y="2677358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82–89 %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177462" y="2677358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97.9 %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2691" y="3040023"/>
            <a:ext cx="13485019" cy="4670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4139" y="3144441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34953" y="3144441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31957" y="3144441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77462" y="3144441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2691" y="3507105"/>
            <a:ext cx="13485019" cy="4670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4139" y="3611523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34953" y="3611523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31957" y="3611523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77462" y="3611523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0.949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72691" y="3974187"/>
            <a:ext cx="13485019" cy="4670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4139" y="4078605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(Fake)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34953" y="4078605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0.85 (est.)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31957" y="4078605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77462" y="4078605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0.8786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72691" y="4441269"/>
            <a:ext cx="13485019" cy="4670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4139" y="4545687"/>
            <a:ext cx="237029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 (Fake)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34953" y="4545687"/>
            <a:ext cx="236648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31957" y="4545687"/>
            <a:ext cx="371498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177462" y="4545687"/>
            <a:ext cx="371879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0.84 (frame) /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0.06 (video)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5071" y="5158145"/>
            <a:ext cx="406407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 from Progression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65071" y="5945148"/>
            <a:ext cx="4392454" cy="1711642"/>
          </a:xfrm>
          <a:prstGeom prst="roundRect">
            <a:avLst>
              <a:gd name="adj" fmla="val 6411"/>
            </a:avLst>
          </a:prstGeom>
          <a:solidFill>
            <a:srgbClr val="FBFAFF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71" y="5922288"/>
            <a:ext cx="4392454" cy="91440"/>
          </a:xfrm>
          <a:prstGeom prst="rect">
            <a:avLst/>
          </a:prstGeom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24" y="5702975"/>
            <a:ext cx="484346" cy="484346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4381" y="5848231"/>
            <a:ext cx="193715" cy="193715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49379" y="6348770"/>
            <a:ext cx="2018228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Accuracy Leap</a:t>
            </a:r>
            <a:endParaRPr lang="en-US" sz="1550" dirty="0"/>
          </a:p>
        </p:txBody>
      </p:sp>
      <p:sp>
        <p:nvSpPr>
          <p:cNvPr id="41" name="Text 36"/>
          <p:cNvSpPr/>
          <p:nvPr/>
        </p:nvSpPr>
        <p:spPr>
          <a:xfrm>
            <a:off x="749379" y="6697742"/>
            <a:ext cx="4023836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current setup achieved a significant jump in overall accuracy by standardizing input via superior cropping and preprocessing.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5118973" y="5945148"/>
            <a:ext cx="4392454" cy="1711642"/>
          </a:xfrm>
          <a:prstGeom prst="roundRect">
            <a:avLst>
              <a:gd name="adj" fmla="val 6411"/>
            </a:avLst>
          </a:prstGeom>
          <a:solidFill>
            <a:srgbClr val="FBFAFF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973" y="5922288"/>
            <a:ext cx="4392454" cy="91440"/>
          </a:xfrm>
          <a:prstGeom prst="rect">
            <a:avLst/>
          </a:prstGeom>
        </p:spPr>
      </p:pic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027" y="5702975"/>
            <a:ext cx="484346" cy="484346"/>
          </a:xfrm>
          <a:prstGeom prst="rect">
            <a:avLst/>
          </a:prstGeom>
        </p:spPr>
      </p:pic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8283" y="5848231"/>
            <a:ext cx="193715" cy="19371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303282" y="6348770"/>
            <a:ext cx="2018228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Metric Trade-offs</a:t>
            </a:r>
            <a:endParaRPr lang="en-US" sz="1550" dirty="0"/>
          </a:p>
        </p:txBody>
      </p:sp>
      <p:sp>
        <p:nvSpPr>
          <p:cNvPr id="47" name="Text 39"/>
          <p:cNvSpPr/>
          <p:nvPr/>
        </p:nvSpPr>
        <p:spPr>
          <a:xfrm>
            <a:off x="5303282" y="6697742"/>
            <a:ext cx="4023836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high frame-level accuracy suggests good feature learning, but the low video-level recall highlights the need for stronger temporal analysis mechanisms.</a:t>
            </a:r>
            <a:endParaRPr lang="en-US" sz="1250" dirty="0"/>
          </a:p>
        </p:txBody>
      </p:sp>
      <p:sp>
        <p:nvSpPr>
          <p:cNvPr id="48" name="Shape 40"/>
          <p:cNvSpPr/>
          <p:nvPr/>
        </p:nvSpPr>
        <p:spPr>
          <a:xfrm>
            <a:off x="9672876" y="5945148"/>
            <a:ext cx="4392454" cy="1711642"/>
          </a:xfrm>
          <a:prstGeom prst="roundRect">
            <a:avLst>
              <a:gd name="adj" fmla="val 6411"/>
            </a:avLst>
          </a:prstGeom>
          <a:solidFill>
            <a:srgbClr val="FBFAFF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2876" y="5922288"/>
            <a:ext cx="4392454" cy="91440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6929" y="5702975"/>
            <a:ext cx="484346" cy="484346"/>
          </a:xfrm>
          <a:prstGeom prst="rect">
            <a:avLst/>
          </a:prstGeom>
        </p:spPr>
      </p:pic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72186" y="5848231"/>
            <a:ext cx="193715" cy="193715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857184" y="6348770"/>
            <a:ext cx="2356366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Iterative Improvement</a:t>
            </a:r>
            <a:endParaRPr lang="en-US" sz="1550" dirty="0"/>
          </a:p>
        </p:txBody>
      </p:sp>
      <p:sp>
        <p:nvSpPr>
          <p:cNvPr id="53" name="Text 42"/>
          <p:cNvSpPr/>
          <p:nvPr/>
        </p:nvSpPr>
        <p:spPr>
          <a:xfrm>
            <a:off x="9857184" y="6697742"/>
            <a:ext cx="4023836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phase—from sample fine-tuning to the final Chunk 00 model—showed progressive gains, validating our iterative development methodology.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378" y="829270"/>
            <a:ext cx="11354752" cy="667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🚀</a:t>
            </a:r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Acknowledgements &amp; Future Direction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9378" y="1919526"/>
            <a:ext cx="13151644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extend our sincere gratitude to our sponsors for their mentorship, resources, and invaluable feedback throughout this challenging project. They were constantly in the loop of our progress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9378" y="2832973"/>
            <a:ext cx="4243030" cy="2296716"/>
          </a:xfrm>
          <a:prstGeom prst="roundRect">
            <a:avLst>
              <a:gd name="adj" fmla="val 22075"/>
            </a:avLst>
          </a:prstGeom>
          <a:solidFill>
            <a:srgbClr val="E7E0FF"/>
          </a:solidFill>
          <a:ln/>
        </p:spPr>
      </p:sp>
      <p:sp>
        <p:nvSpPr>
          <p:cNvPr id="5" name="Text 3"/>
          <p:cNvSpPr/>
          <p:nvPr/>
        </p:nvSpPr>
        <p:spPr>
          <a:xfrm>
            <a:off x="950595" y="3044190"/>
            <a:ext cx="3168729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Adolfo Coronado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950595" y="3566874"/>
            <a:ext cx="3820597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Provided foundational guidance and resources crucial for project initiation and infrastructure setup.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193625" y="2832973"/>
            <a:ext cx="4243030" cy="2296716"/>
          </a:xfrm>
          <a:prstGeom prst="roundRect">
            <a:avLst>
              <a:gd name="adj" fmla="val 22075"/>
            </a:avLst>
          </a:prstGeom>
          <a:solidFill>
            <a:srgbClr val="E7E0FF"/>
          </a:solidFill>
          <a:ln/>
        </p:spPr>
      </p:sp>
      <p:sp>
        <p:nvSpPr>
          <p:cNvPr id="8" name="Text 6"/>
          <p:cNvSpPr/>
          <p:nvPr/>
        </p:nvSpPr>
        <p:spPr>
          <a:xfrm>
            <a:off x="5404842" y="3044190"/>
            <a:ext cx="3168729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Ayush Choudhar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5404842" y="3566874"/>
            <a:ext cx="3820597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Offered key UI/UX inspiration, ensuring the final deployment will be intuitive and user-friendly for non-technical stakeholders.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647873" y="2832973"/>
            <a:ext cx="4243030" cy="2296716"/>
          </a:xfrm>
          <a:prstGeom prst="roundRect">
            <a:avLst>
              <a:gd name="adj" fmla="val 22075"/>
            </a:avLst>
          </a:prstGeom>
          <a:solidFill>
            <a:srgbClr val="E7E0FF"/>
          </a:solidFill>
          <a:ln/>
        </p:spPr>
      </p:sp>
      <p:sp>
        <p:nvSpPr>
          <p:cNvPr id="11" name="Text 9"/>
          <p:cNvSpPr/>
          <p:nvPr/>
        </p:nvSpPr>
        <p:spPr>
          <a:xfrm>
            <a:off x="9859089" y="3044190"/>
            <a:ext cx="3494365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Rohan Kumar Manna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9859089" y="3566874"/>
            <a:ext cx="3820597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Provided technical assessment and strategic feedback on the model's potential applications beyond academic research.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56203" y="5604986"/>
            <a:ext cx="12834818" cy="84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Sponsor Feedback:</a:t>
            </a:r>
            <a:pPr algn="l" indent="0" marL="0">
              <a:lnSpc>
                <a:spcPts val="33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“The results and demo look very good and clear. This can be adapted for ADAS systems in automotive cars. Looking forward to a safer environment with your team’s help.”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739378" y="5367338"/>
            <a:ext cx="22860" cy="1320165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15" name="Text 13"/>
          <p:cNvSpPr/>
          <p:nvPr/>
        </p:nvSpPr>
        <p:spPr>
          <a:xfrm>
            <a:off x="739378" y="7004328"/>
            <a:ext cx="3168729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2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098" y="621030"/>
            <a:ext cx="12994481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🗓</a:t>
            </a:r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Roadmap: Achieving Production-Readiness (Weeks 9–16)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2098" y="1495782"/>
            <a:ext cx="1344620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focus shifts from pure research to hardening the system, improving video-level metrics, and delivering a fully integrated, deployable solution.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770" y="1956673"/>
            <a:ext cx="22860" cy="5651897"/>
          </a:xfrm>
          <a:prstGeom prst="roundRect">
            <a:avLst>
              <a:gd name="adj" fmla="val 111024"/>
            </a:avLst>
          </a:prstGeom>
          <a:solidFill>
            <a:srgbClr val="D0CED9"/>
          </a:solidFill>
          <a:ln/>
        </p:spPr>
      </p:sp>
      <p:sp>
        <p:nvSpPr>
          <p:cNvPr id="5" name="Shape 3"/>
          <p:cNvSpPr/>
          <p:nvPr/>
        </p:nvSpPr>
        <p:spPr>
          <a:xfrm>
            <a:off x="6640175" y="2135505"/>
            <a:ext cx="507563" cy="22860"/>
          </a:xfrm>
          <a:prstGeom prst="roundRect">
            <a:avLst>
              <a:gd name="adj" fmla="val 111024"/>
            </a:avLst>
          </a:prstGeom>
          <a:solidFill>
            <a:srgbClr val="D0CED9"/>
          </a:solidFill>
          <a:ln/>
        </p:spPr>
      </p:sp>
      <p:sp>
        <p:nvSpPr>
          <p:cNvPr id="6" name="Shape 4"/>
          <p:cNvSpPr/>
          <p:nvPr/>
        </p:nvSpPr>
        <p:spPr>
          <a:xfrm>
            <a:off x="7124879" y="1956673"/>
            <a:ext cx="380643" cy="38064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188279" y="1988344"/>
            <a:ext cx="253722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55790" y="2014776"/>
            <a:ext cx="4913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Weeks 9 – 11: Backend &amp; Core Enhancements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92098" y="2380536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Fine-tune model with synthetic data from emerging AI video generators.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2098" y="2980968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Focal Loss + Weighted Sampler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robust class imbalance handling.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2098" y="3581400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FastAPI endpoints for video upload, detection pipeline, probability scoring, and Grad-CAM heatmap visualization.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82661" y="3150632"/>
            <a:ext cx="507563" cy="22860"/>
          </a:xfrm>
          <a:prstGeom prst="roundRect">
            <a:avLst>
              <a:gd name="adj" fmla="val 111024"/>
            </a:avLst>
          </a:prstGeom>
          <a:solidFill>
            <a:srgbClr val="D0C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124879" y="2971800"/>
            <a:ext cx="380643" cy="38064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7188279" y="3003471"/>
            <a:ext cx="253722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61139" y="3029902"/>
            <a:ext cx="415385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Weeks 12 – 13: Frontend Development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61139" y="3395663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Finalize custom React UI for seamless video submission and results display.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1139" y="3996095"/>
            <a:ext cx="587716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frontend to the FastAPI backend API for full data flow.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61139" y="4325898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clear results: Real/Fake label, confidence score, and explainable heatmap snapshots.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40175" y="4639866"/>
            <a:ext cx="507563" cy="22860"/>
          </a:xfrm>
          <a:prstGeom prst="roundRect">
            <a:avLst>
              <a:gd name="adj" fmla="val 111024"/>
            </a:avLst>
          </a:prstGeom>
          <a:solidFill>
            <a:srgbClr val="D0CED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4879" y="4461034"/>
            <a:ext cx="380643" cy="38064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7188279" y="4492704"/>
            <a:ext cx="253722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891784" y="4519136"/>
            <a:ext cx="4577477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Weeks 14 – 15: Integration &amp; Optimization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92098" y="4884896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comprehensive end-to-end testing (upload → scoring → results).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2098" y="5485328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robustness testing across diverse video formats and resolutions.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2098" y="6085761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 and optimize inference speed and GPU utilization for real-time performance.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82661" y="5892046"/>
            <a:ext cx="507563" cy="22860"/>
          </a:xfrm>
          <a:prstGeom prst="roundRect">
            <a:avLst>
              <a:gd name="adj" fmla="val 111024"/>
            </a:avLst>
          </a:prstGeom>
          <a:solidFill>
            <a:srgbClr val="D0CED9"/>
          </a:solidFill>
          <a:ln/>
        </p:spPr>
      </p:sp>
      <p:sp>
        <p:nvSpPr>
          <p:cNvPr id="27" name="Shape 25"/>
          <p:cNvSpPr/>
          <p:nvPr/>
        </p:nvSpPr>
        <p:spPr>
          <a:xfrm>
            <a:off x="7124879" y="5713214"/>
            <a:ext cx="380643" cy="38064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8" name="Text 26"/>
          <p:cNvSpPr/>
          <p:nvPr/>
        </p:nvSpPr>
        <p:spPr>
          <a:xfrm>
            <a:off x="7188279" y="5744885"/>
            <a:ext cx="253722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161139" y="5771317"/>
            <a:ext cx="254936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Week 16: Final Delivery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161139" y="6137077"/>
            <a:ext cx="587716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Finalize presentation materials and product demonstration.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61139" y="6466880"/>
            <a:ext cx="58771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 detailed GitHub repository, including comprehensive README and user guides.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61139" y="7067312"/>
            <a:ext cx="587716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the final project demo video for formal submission.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2025-10-29T16:41:32Z</dcterms:created>
  <dcterms:modified xsi:type="dcterms:W3CDTF">2025-10-29T16:41:32Z</dcterms:modified>
</cp:coreProperties>
</file>