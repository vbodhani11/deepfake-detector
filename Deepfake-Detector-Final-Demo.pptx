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Nunito Semi Bold"/>
      <p:regular r:id="rId16"/>
    </p:embeddedFon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PT Sans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vbodhani11/Deepfake-Detector" TargetMode="External"/><Relationship Id="rId2" Type="http://schemas.openxmlformats.org/officeDocument/2006/relationships/hyperlink" Target="https://github.com/vbodhani11/Deepfake-Detector" TargetMode="External"/><Relationship Id="rId3" Type="http://schemas.openxmlformats.org/officeDocument/2006/relationships/hyperlink" Target="https://github.com/vbodhani11/Deepfake-Detector" TargetMode="External"/><Relationship Id="rId4" Type="http://schemas.openxmlformats.org/officeDocument/2006/relationships/hyperlink" Target="https://github.com/vbodhani11/Deepfake-Detector" TargetMode="Externa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bodhani11/Deepfake-Detector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968103"/>
            <a:ext cx="709088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Deepfake Detector (Khushi)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303109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 Backend • React Frontend • Xception ML Model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4124" y="39226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Instructor: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324124" y="4513898"/>
            <a:ext cx="34423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Zeshang Chen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357961" y="39226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Team: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57961" y="4513898"/>
            <a:ext cx="344233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John Ademola,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Vipul Bodhani,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Khushi Patel,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Jyotsana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852011"/>
            <a:ext cx="615600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What We Built (Khushi)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034778"/>
            <a:ext cx="4158734" cy="2536150"/>
          </a:xfrm>
          <a:prstGeom prst="roundRect">
            <a:avLst>
              <a:gd name="adj" fmla="val 576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7244" y="2034778"/>
            <a:ext cx="121920" cy="253615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Text 3"/>
          <p:cNvSpPr/>
          <p:nvPr/>
        </p:nvSpPr>
        <p:spPr>
          <a:xfrm>
            <a:off x="1198959" y="2304574"/>
            <a:ext cx="352770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Deepfake Detection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98959" y="3152061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An end-to-end solution for identifying AI-generated content. </a:t>
            </a:r>
            <a:pPr algn="l" indent="0" marL="0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5235773" y="2034778"/>
            <a:ext cx="4158734" cy="2536150"/>
          </a:xfrm>
          <a:prstGeom prst="roundRect">
            <a:avLst>
              <a:gd name="adj" fmla="val 576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05293" y="2034778"/>
            <a:ext cx="121920" cy="253615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9" name="Text 7"/>
          <p:cNvSpPr/>
          <p:nvPr/>
        </p:nvSpPr>
        <p:spPr>
          <a:xfrm>
            <a:off x="5597009" y="230457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7009" y="2800112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Developed with React 18 + TypeScript + Vite + Tailwind CSS for a responsive UI. </a:t>
            </a:r>
            <a:pPr algn="l" indent="0" marL="0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9633823" y="2034778"/>
            <a:ext cx="4158853" cy="2536150"/>
          </a:xfrm>
          <a:prstGeom prst="roundRect">
            <a:avLst>
              <a:gd name="adj" fmla="val 576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3343" y="2034778"/>
            <a:ext cx="121920" cy="253615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3" name="Text 11"/>
          <p:cNvSpPr/>
          <p:nvPr/>
        </p:nvSpPr>
        <p:spPr>
          <a:xfrm>
            <a:off x="9995059" y="230457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95059" y="2800112"/>
            <a:ext cx="352782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 API (backend folder) with JWT authentication for secure operations. </a:t>
            </a:r>
            <a:pPr algn="l" indent="0" marL="0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4810244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7244" y="4810244"/>
            <a:ext cx="121920" cy="2567226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17" name="Text 15"/>
          <p:cNvSpPr/>
          <p:nvPr/>
        </p:nvSpPr>
        <p:spPr>
          <a:xfrm>
            <a:off x="1198959" y="50800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ML Layer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98959" y="5575578"/>
            <a:ext cx="352770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Xception model for classification, integrated with OpenCV/MediaPipe for face detection. </a:t>
            </a:r>
            <a:pPr algn="l" indent="0" marL="0">
              <a:lnSpc>
                <a:spcPts val="3000"/>
              </a:lnSpc>
              <a:buNone/>
            </a:pPr>
            <a:r>
              <a:rPr lang="en-US" sz="18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5235773" y="4810244"/>
            <a:ext cx="4158734" cy="2567226"/>
          </a:xfrm>
          <a:prstGeom prst="roundRect">
            <a:avLst>
              <a:gd name="adj" fmla="val 5699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5293" y="4810244"/>
            <a:ext cx="121920" cy="2567226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21" name="Text 19"/>
          <p:cNvSpPr/>
          <p:nvPr/>
        </p:nvSpPr>
        <p:spPr>
          <a:xfrm>
            <a:off x="5597009" y="50800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Functionality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97009" y="5575578"/>
            <a:ext cx="352770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video upload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returns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prediction + confidence score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and stores results for history.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3424"/>
            <a:ext cx="938236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User Experience &amp; Interface (Khushi)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65164"/>
            <a:ext cx="6357818" cy="2129790"/>
          </a:xfrm>
          <a:prstGeom prst="roundRect">
            <a:avLst>
              <a:gd name="adj" fmla="val 6869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234684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6" name="Text 4"/>
          <p:cNvSpPr/>
          <p:nvPr/>
        </p:nvSpPr>
        <p:spPr>
          <a:xfrm>
            <a:off x="3872925" y="208573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28635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Authentication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335911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Seamless sign-up and login using robust JWT-based authentication for secure user access.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2265164"/>
            <a:ext cx="6357818" cy="2129790"/>
          </a:xfrm>
          <a:prstGeom prst="roundRect">
            <a:avLst>
              <a:gd name="adj" fmla="val 6869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34858" y="2234684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4675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0059" y="208573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704653" y="2863572"/>
            <a:ext cx="331767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Upload &amp; Analysis Screen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04653" y="335911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Intuitive file selection or drag-and-drop. Displays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loading / progress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indicators during backend analysis.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4993243"/>
            <a:ext cx="6357818" cy="2512814"/>
          </a:xfrm>
          <a:prstGeom prst="roundRect">
            <a:avLst>
              <a:gd name="adj" fmla="val 582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7724" y="4962763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63427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72925" y="481381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07519" y="55916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Results View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07519" y="6087189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Clear display of </a:t>
            </a:r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Real / Fake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classification, including a confidence score, filename, and analysis timestamp.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434858" y="4993243"/>
            <a:ext cx="6357818" cy="2512814"/>
          </a:xfrm>
          <a:prstGeom prst="roundRect">
            <a:avLst>
              <a:gd name="adj" fmla="val 582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34858" y="4962763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54675" y="463427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0059" y="481381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704653" y="559165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Detection History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04653" y="6087189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Users can easily access and review past uploads and their corresponding results through a comprehensive history table.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0546" y="440412"/>
            <a:ext cx="6402824" cy="47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System Architecture Overview (. Jojo)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546" y="1231821"/>
            <a:ext cx="13509308" cy="5278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64093" y="1740140"/>
            <a:ext cx="3084215" cy="35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User Browser (React UI)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8064093" y="2654925"/>
            <a:ext cx="3656861" cy="35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FastAPI Backend (REST API)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64093" y="3568674"/>
            <a:ext cx="4137760" cy="35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ML Model Service + File Storage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64093" y="4498370"/>
            <a:ext cx="4423150" cy="35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PostgreSQL DB (users, detections)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0546" y="6850261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Frontend Details: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560546" y="7245906"/>
            <a:ext cx="6559272" cy="256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+ TypeScript + Vite + Tailwind UI for a modern and efficient user interface.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60546" y="7662267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Backend Details: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60546" y="8057912"/>
            <a:ext cx="6559272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 framework, structured with routers for authentication, detection, and history management.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18202" y="6850261"/>
            <a:ext cx="1884521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Details: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518202" y="7245906"/>
            <a:ext cx="6559272" cy="51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PostgreSQL with SQLModel/SQLAlchemy for robust data modeling and queries, managed with Alembic migrations. </a:t>
            </a:r>
            <a:pPr algn="l" indent="0" marL="0">
              <a:lnSpc>
                <a:spcPts val="2000"/>
              </a:lnSpc>
              <a:buNone/>
            </a:pPr>
            <a:r>
              <a:rPr lang="en-US" sz="12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359" y="788551"/>
            <a:ext cx="11253549" cy="653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 Testing Results and Explainability (John)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77359" y="1530548"/>
            <a:ext cx="4029194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Fine-tuning Experiment Summary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777359" y="239006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Initial Fine-tuning (SampleData)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359" y="2945130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Dataset: 400 sample videos from DFDC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359" y="337804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Unique identities: ~50 unique faces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359" y="393311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359" y="4488180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Accuracy: 94.13%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359" y="492109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F1 Score: 86.87%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359" y="5354002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AUC: 98.99%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359" y="5786914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 (Fake): 96.68%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359" y="6219825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wP = 0.8763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359" y="6652736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False Positive Rate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~3.4%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(31 FPs out of ~919 real samples)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93687" y="239006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Extended Fine-tuning (CompleteData)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593687" y="2945130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Dataset: Additional 600 videos (200 each from 3 chunks)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93687" y="3378041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Unique identities: 3 unique faces (one per chunk)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93687" y="3810953"/>
            <a:ext cx="6266974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Fine-tuning strategy: Low learning rate (lr_head=1e-5, lr_full=5e-6) to mitigate catastrophic forgetting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593687" y="4721304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Results: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593687" y="5276374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Accuracy: 93.01%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593687" y="5709285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F1 Score: 84.63%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593687" y="6142196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AUC: 98.14%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593687" y="6575108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 (Fake): 94.67% |  wP = 0.8763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93687" y="7008019"/>
            <a:ext cx="6266974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False Positive Rate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</a:t>
            </a:r>
            <a:pPr algn="l" indent="0" marL="0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0.83%</a:t>
            </a:r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(31 FPs out of 3,734 real samples)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32" y="531614"/>
            <a:ext cx="9704070" cy="568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 Testing Results - Training Metrics (John)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32" y="1607582"/>
            <a:ext cx="6402705" cy="26274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6632" y="4452461"/>
            <a:ext cx="6402705" cy="309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683" y="1607582"/>
            <a:ext cx="6402705" cy="2625328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683" y="4450318"/>
            <a:ext cx="4438174" cy="33145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0818" y="653058"/>
            <a:ext cx="12968764" cy="139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Team Experience — What Went Well &amp; What Didn't (. Jojo)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830818" y="2642949"/>
            <a:ext cx="4468654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✅</a:t>
            </a:r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What Went Well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30818" y="3446383"/>
            <a:ext cx="6194822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Equal contribution across all parts — Everyone worked on frontend, backend, and fine-tuning, creating shared ownership and learning.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0818" y="4668798"/>
            <a:ext cx="6194822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Consistent communication — Weekly meetings and active WhatsApp coordination kept the project aligned.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0818" y="5511403"/>
            <a:ext cx="6194822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Strong project structure — Using the GitHub project board helped us plan, assign tasks, and track progress effectively.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0818" y="6733818"/>
            <a:ext cx="6194822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Collaborative problem-solving — Team members supported each other quickly when issues came up.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2380" y="2642949"/>
            <a:ext cx="4990028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⚠️</a:t>
            </a:r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What Didn't Go Well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7612380" y="3446383"/>
            <a:ext cx="6194822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pressure during mid-term and final presentations — Preparation felt rushed and stressful.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2380" y="4288988"/>
            <a:ext cx="6194822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Insufficient early testing — Some issues surfaced late because we didn't plan enough time for systematic testing.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2380" y="5511403"/>
            <a:ext cx="6194822" cy="759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5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Could integrate earlier — Testing earlier combined components might have reduced last-minute fixes.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2342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Work (. Jojo)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265164"/>
            <a:ext cx="6357818" cy="2129790"/>
          </a:xfrm>
          <a:prstGeom prst="roundRect">
            <a:avLst>
              <a:gd name="adj" fmla="val 6869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37724" y="2234684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6" name="Text 4"/>
          <p:cNvSpPr/>
          <p:nvPr/>
        </p:nvSpPr>
        <p:spPr>
          <a:xfrm>
            <a:off x="3872925" y="208573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107519" y="2863572"/>
            <a:ext cx="416599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Train Across All 50 Data Chunks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07519" y="335911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Expand fine-tuning to the entire dataset to improve accuracy, generalization, and model robustness.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2265164"/>
            <a:ext cx="6357818" cy="2129790"/>
          </a:xfrm>
          <a:prstGeom prst="roundRect">
            <a:avLst>
              <a:gd name="adj" fmla="val 6869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34858" y="2234684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018CE1"/>
          </a:solidFill>
          <a:ln/>
        </p:spPr>
      </p:sp>
      <p:sp>
        <p:nvSpPr>
          <p:cNvPr id="11" name="Shape 9"/>
          <p:cNvSpPr/>
          <p:nvPr/>
        </p:nvSpPr>
        <p:spPr>
          <a:xfrm>
            <a:off x="10254675" y="1906191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0059" y="2085737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704653" y="2863572"/>
            <a:ext cx="32532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Publish a Research Paper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704653" y="3359110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Document our methodology, experiments, and results to contribute to academic and industry knowledge.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37724" y="4993243"/>
            <a:ext cx="6357818" cy="2512814"/>
          </a:xfrm>
          <a:prstGeom prst="roundRect">
            <a:avLst>
              <a:gd name="adj" fmla="val 582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37724" y="4962763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DA33B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63427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18" name="Text 16"/>
          <p:cNvSpPr/>
          <p:nvPr/>
        </p:nvSpPr>
        <p:spPr>
          <a:xfrm>
            <a:off x="3872925" y="481381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107519" y="5591651"/>
            <a:ext cx="475619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Deploy the Application to Production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07519" y="6087189"/>
            <a:ext cx="581822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Turn the system into a real, usable tool where users can upload videos and get deepfake detection results.</a:t>
            </a:r>
            <a:endParaRPr lang="en-US" sz="1850" dirty="0"/>
          </a:p>
        </p:txBody>
      </p:sp>
      <p:sp>
        <p:nvSpPr>
          <p:cNvPr id="21" name="Shape 19"/>
          <p:cNvSpPr/>
          <p:nvPr/>
        </p:nvSpPr>
        <p:spPr>
          <a:xfrm>
            <a:off x="7434858" y="4993243"/>
            <a:ext cx="6357818" cy="2512814"/>
          </a:xfrm>
          <a:prstGeom prst="roundRect">
            <a:avLst>
              <a:gd name="adj" fmla="val 5822"/>
            </a:avLst>
          </a:prstGeom>
          <a:solidFill>
            <a:srgbClr val="F3F3FF">
              <a:alpha val="7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434858" y="4962763"/>
            <a:ext cx="6357818" cy="121920"/>
          </a:xfrm>
          <a:prstGeom prst="roundRect">
            <a:avLst>
              <a:gd name="adj" fmla="val 294514"/>
            </a:avLst>
          </a:prstGeom>
          <a:solidFill>
            <a:srgbClr val="2D4DF2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54675" y="4634270"/>
            <a:ext cx="718066" cy="718066"/>
          </a:xfrm>
          <a:prstGeom prst="roundRect">
            <a:avLst>
              <a:gd name="adj" fmla="val 127342"/>
            </a:avLst>
          </a:prstGeom>
          <a:solidFill>
            <a:srgbClr val="2D4DF2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0059" y="4813816"/>
            <a:ext cx="287179" cy="35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7704653" y="5591651"/>
            <a:ext cx="491442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Select an Affordable Hosting Platform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704653" y="6087189"/>
            <a:ext cx="581822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low-cost GPU/CPU cloud services to host the model efficiently (e.g., Paperspace, RunPod, GCP, Azure, AWS).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31256"/>
            <a:ext cx="7772876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Sponsors Appreciation (Vipul)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614023"/>
            <a:ext cx="1295495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Prof Adolfo Coronado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Dr Rohan </a:t>
            </a:r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Ayush (inspired us with his UI/UX designs) 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5415320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2025-12-08T01:52:28Z</dcterms:created>
  <dcterms:modified xsi:type="dcterms:W3CDTF">2025-12-08T01:52:28Z</dcterms:modified>
</cp:coreProperties>
</file>